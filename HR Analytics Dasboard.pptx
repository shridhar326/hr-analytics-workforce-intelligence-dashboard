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96" r:id="rId2"/>
    <p:sldMasterId id="2147483708" r:id="rId3"/>
  </p:sldMasterIdLst>
  <p:notesMasterIdLst>
    <p:notesMasterId r:id="rId12"/>
  </p:notesMasterIdLst>
  <p:sldIdLst>
    <p:sldId id="264" r:id="rId4"/>
    <p:sldId id="257" r:id="rId5"/>
    <p:sldId id="258" r:id="rId6"/>
    <p:sldId id="259" r:id="rId7"/>
    <p:sldId id="260" r:id="rId8"/>
    <p:sldId id="261" r:id="rId9"/>
    <p:sldId id="262" r:id="rId10"/>
    <p:sldId id="263" r:id="rId11"/>
  </p:sldIdLst>
  <p:sldSz cx="6858000" cy="7920038"/>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69" autoAdjust="0"/>
    <p:restoredTop sz="86410" autoAdjust="0"/>
  </p:normalViewPr>
  <p:slideViewPr>
    <p:cSldViewPr snapToGrid="0" snapToObjects="1">
      <p:cViewPr varScale="1">
        <p:scale>
          <a:sx n="62" d="100"/>
          <a:sy n="62" d="100"/>
        </p:scale>
        <p:origin x="2232" y="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customXml" Target="../customXml/item3.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611BE-41E9-42AA-B490-0014DE654FCE}" type="datetimeFigureOut">
              <a:rPr lang="en-IN" smtClean="0"/>
              <a:t>15-04-2026</a:t>
            </a:fld>
            <a:endParaRPr lang="en-IN"/>
          </a:p>
        </p:txBody>
      </p:sp>
      <p:sp>
        <p:nvSpPr>
          <p:cNvPr id="4" name="Slide Image Placeholder 3"/>
          <p:cNvSpPr>
            <a:spLocks noGrp="1" noRot="1" noChangeAspect="1"/>
          </p:cNvSpPr>
          <p:nvPr>
            <p:ph type="sldImg" idx="2"/>
          </p:nvPr>
        </p:nvSpPr>
        <p:spPr>
          <a:xfrm>
            <a:off x="2093913" y="1143000"/>
            <a:ext cx="26701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A28EFA-20B2-43D4-92C9-C90830B62EB0}" type="slidenum">
              <a:rPr lang="en-IN" smtClean="0"/>
              <a:t>‹#›</a:t>
            </a:fld>
            <a:endParaRPr lang="en-IN"/>
          </a:p>
        </p:txBody>
      </p:sp>
    </p:spTree>
    <p:extLst>
      <p:ext uri="{BB962C8B-B14F-4D97-AF65-F5344CB8AC3E}">
        <p14:creationId xmlns:p14="http://schemas.microsoft.com/office/powerpoint/2010/main" val="2318831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Headcount 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Salaries IAB</a:t>
            </a:r>
            <a:endParaRPr dirty="0"/>
          </a:p>
          <a:p>
            <a:r>
              <a:rPr b="0" dirty="0"/>
              <a:t>No alt text provided</a:t>
            </a:r>
            <a:endParaRPr dirty="0"/>
          </a:p>
          <a:p>
            <a:endParaRPr dirty="0"/>
          </a:p>
          <a:p>
            <a:r>
              <a:rPr b="1" dirty="0"/>
              <a:t>Compliance IAB</a:t>
            </a:r>
            <a:endParaRPr dirty="0"/>
          </a:p>
          <a:p>
            <a:r>
              <a:rPr b="0" dirty="0"/>
              <a:t>No alt text provided</a:t>
            </a:r>
            <a:endParaRPr dirty="0"/>
          </a:p>
          <a:p>
            <a:endParaRPr dirty="0"/>
          </a:p>
          <a:p>
            <a:r>
              <a:rPr b="1" dirty="0"/>
              <a:t>Productivity IAB</a:t>
            </a:r>
            <a:endParaRPr dirty="0"/>
          </a:p>
          <a:p>
            <a:r>
              <a:rPr b="0" dirty="0"/>
              <a:t>No alt text provided</a:t>
            </a:r>
            <a:endParaRPr dirty="0"/>
          </a:p>
          <a:p>
            <a:endParaRPr dirty="0"/>
          </a:p>
          <a:p>
            <a:r>
              <a:rPr b="1" dirty="0"/>
              <a:t>F&amp;F IAB</a:t>
            </a:r>
            <a:endParaRPr dirty="0"/>
          </a:p>
          <a:p>
            <a:r>
              <a:rPr b="0" dirty="0"/>
              <a:t>No alt text provided</a:t>
            </a:r>
            <a:endParaRPr dirty="0"/>
          </a:p>
          <a:p>
            <a:endParaRPr dirty="0"/>
          </a:p>
          <a:p>
            <a:r>
              <a:rPr b="1" dirty="0"/>
              <a:t>Qry Mgt IAB</a:t>
            </a:r>
            <a:endParaRPr dirty="0"/>
          </a:p>
          <a:p>
            <a:r>
              <a:rPr b="0" dirty="0"/>
              <a:t>No alt text provided</a:t>
            </a:r>
            <a:endParaRPr dirty="0"/>
          </a:p>
          <a:p>
            <a:endParaRPr dirty="0"/>
          </a:p>
          <a:p>
            <a:r>
              <a:rPr b="1" dirty="0"/>
              <a:t>Data Audit IAB</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OVERALL HEADCOUNT FOR CURRENT MONTH</a:t>
            </a:r>
            <a:endParaRPr dirty="0"/>
          </a:p>
          <a:p>
            <a:r>
              <a:rPr b="0" dirty="0"/>
              <a:t>No alt text provided</a:t>
            </a:r>
            <a:endParaRPr dirty="0"/>
          </a:p>
          <a:p>
            <a:endParaRPr dirty="0"/>
          </a:p>
          <a:p>
            <a:r>
              <a:rPr b="1" dirty="0"/>
              <a:t>YTD NEW JOINEES</a:t>
            </a:r>
            <a:endParaRPr dirty="0"/>
          </a:p>
          <a:p>
            <a:r>
              <a:rPr b="0" dirty="0"/>
              <a:t>No alt text provided</a:t>
            </a:r>
            <a:endParaRPr dirty="0"/>
          </a:p>
          <a:p>
            <a:endParaRPr dirty="0"/>
          </a:p>
          <a:p>
            <a:r>
              <a:rPr b="1" dirty="0"/>
              <a:t>YTD SEPARATIONS</a:t>
            </a:r>
            <a:endParaRPr dirty="0"/>
          </a:p>
          <a:p>
            <a:r>
              <a:rPr b="0" dirty="0"/>
              <a:t>No alt text provided</a:t>
            </a:r>
            <a:endParaRPr dirty="0"/>
          </a:p>
          <a:p>
            <a:endParaRPr dirty="0"/>
          </a:p>
          <a:p>
            <a:r>
              <a:rPr b="1" dirty="0"/>
              <a:t>WORKFORCE TENURE SEGMENTATION</a:t>
            </a:r>
            <a:endParaRPr dirty="0"/>
          </a:p>
          <a:p>
            <a:r>
              <a:rPr b="0" dirty="0"/>
              <a:t>No alt text provided</a:t>
            </a:r>
            <a:endParaRPr dirty="0"/>
          </a:p>
          <a:p>
            <a:endParaRPr dirty="0"/>
          </a:p>
          <a:p>
            <a:r>
              <a:rPr b="1" dirty="0"/>
              <a:t>CURRENT WORKFORCE AGE GROUP SEGMENTATION</a:t>
            </a:r>
            <a:endParaRPr dirty="0"/>
          </a:p>
          <a:p>
            <a:r>
              <a:rPr b="0" dirty="0"/>
              <a:t>No alt text provided</a:t>
            </a:r>
            <a:endParaRPr dirty="0"/>
          </a:p>
          <a:p>
            <a:endParaRPr dirty="0"/>
          </a:p>
          <a:p>
            <a:r>
              <a:rPr b="1" dirty="0"/>
              <a:t>SPAN OF CONTROL (SOC)</a:t>
            </a:r>
            <a:endParaRPr dirty="0"/>
          </a:p>
          <a:p>
            <a:r>
              <a:rPr b="0" dirty="0"/>
              <a:t>No alt text provided</a:t>
            </a:r>
            <a:endParaRPr dirty="0"/>
          </a:p>
          <a:p>
            <a:endParaRPr dirty="0"/>
          </a:p>
          <a:p>
            <a:r>
              <a:rPr b="1" dirty="0"/>
              <a:t>GENDER RATIO FOR CURRENT MONTH</a:t>
            </a:r>
            <a:endParaRPr dirty="0"/>
          </a:p>
          <a:p>
            <a:r>
              <a:rPr b="0" dirty="0"/>
              <a:t>No alt text provided</a:t>
            </a:r>
            <a:endParaRPr dirty="0"/>
          </a:p>
          <a:p>
            <a:endParaRPr dirty="0"/>
          </a:p>
          <a:p>
            <a:r>
              <a:rPr b="1" dirty="0"/>
              <a:t>MANAGER &amp; INDIVIDUAL CONTRIBUTORS CURRENT HEADCOUNT</a:t>
            </a:r>
            <a:endParaRPr dirty="0"/>
          </a:p>
          <a:p>
            <a:r>
              <a:rPr b="0" dirty="0"/>
              <a:t>No alt text provided</a:t>
            </a:r>
            <a:endParaRPr dirty="0"/>
          </a:p>
          <a:p>
            <a:endParaRPr dirty="0"/>
          </a:p>
          <a:p>
            <a:r>
              <a:rPr b="1" dirty="0"/>
              <a:t>SEPARATIONS MONTHWISE</a:t>
            </a:r>
            <a:endParaRPr dirty="0"/>
          </a:p>
          <a:p>
            <a:r>
              <a:rPr b="0" dirty="0"/>
              <a:t>No alt text provided</a:t>
            </a:r>
            <a:endParaRPr dirty="0"/>
          </a:p>
          <a:p>
            <a:endParaRPr dirty="0"/>
          </a:p>
          <a:p>
            <a:r>
              <a:rPr b="1" dirty="0"/>
              <a:t>NEW JOINEES MONTHWISE</a:t>
            </a:r>
            <a:endParaRPr dirty="0"/>
          </a:p>
          <a:p>
            <a:r>
              <a:rPr b="0" dirty="0"/>
              <a:t>No alt text provided</a:t>
            </a:r>
            <a:endParaRPr dirty="0"/>
          </a:p>
          <a:p>
            <a:endParaRPr dirty="0"/>
          </a:p>
          <a:p>
            <a:r>
              <a:rPr b="1" dirty="0"/>
              <a:t>CURRENT HEADCOUNT GRADEWISE</a:t>
            </a:r>
            <a:endParaRPr dirty="0"/>
          </a:p>
          <a:p>
            <a:r>
              <a:rPr b="0" dirty="0"/>
              <a:t>No alt text provided</a:t>
            </a:r>
            <a:endParaRPr dirty="0"/>
          </a:p>
          <a:p>
            <a:endParaRPr dirty="0"/>
          </a:p>
          <a:p>
            <a:r>
              <a:rPr b="1" dirty="0"/>
              <a:t>HEADCOUNT MONTHWISE</a:t>
            </a:r>
            <a:endParaRPr dirty="0"/>
          </a:p>
          <a:p>
            <a:r>
              <a:rPr b="0" dirty="0"/>
              <a:t>No alt text provided</a:t>
            </a:r>
            <a:endParaRPr dirty="0"/>
          </a:p>
          <a:p>
            <a:endParaRPr dirty="0"/>
          </a:p>
          <a:p>
            <a:r>
              <a:rPr b="1" dirty="0"/>
              <a:t>HEADCOUNT LOCATIONWISE FOR CURRENT MONTH</a:t>
            </a:r>
            <a:endParaRPr dirty="0"/>
          </a:p>
          <a:p>
            <a:r>
              <a:rPr b="0" dirty="0"/>
              <a:t>No alt text provided</a:t>
            </a:r>
            <a:endParaRPr dirty="0"/>
          </a:p>
          <a:p>
            <a:endParaRPr dirty="0"/>
          </a:p>
          <a:p>
            <a:r>
              <a:rPr b="1" dirty="0"/>
              <a:t>HEADCOUNT DEPARTMENTWISE FOR CURRENT MONTH</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Salaries 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Headcount IAB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Compliance IAB</a:t>
            </a:r>
            <a:endParaRPr dirty="0"/>
          </a:p>
          <a:p>
            <a:r>
              <a:rPr b="0" dirty="0"/>
              <a:t>No alt text provided</a:t>
            </a:r>
            <a:endParaRPr dirty="0"/>
          </a:p>
          <a:p>
            <a:endParaRPr dirty="0"/>
          </a:p>
          <a:p>
            <a:r>
              <a:rPr b="1" dirty="0"/>
              <a:t>Productivity IAB</a:t>
            </a:r>
            <a:endParaRPr dirty="0"/>
          </a:p>
          <a:p>
            <a:r>
              <a:rPr b="0" dirty="0"/>
              <a:t>No alt text provided</a:t>
            </a:r>
            <a:endParaRPr dirty="0"/>
          </a:p>
          <a:p>
            <a:endParaRPr dirty="0"/>
          </a:p>
          <a:p>
            <a:r>
              <a:rPr b="1" dirty="0"/>
              <a:t>F&amp;F IAB</a:t>
            </a:r>
            <a:endParaRPr dirty="0"/>
          </a:p>
          <a:p>
            <a:r>
              <a:rPr b="0" dirty="0"/>
              <a:t>No alt text provided</a:t>
            </a:r>
            <a:endParaRPr dirty="0"/>
          </a:p>
          <a:p>
            <a:endParaRPr dirty="0"/>
          </a:p>
          <a:p>
            <a:r>
              <a:rPr b="1" dirty="0"/>
              <a:t>Qry Mgt IAB</a:t>
            </a:r>
            <a:endParaRPr dirty="0"/>
          </a:p>
          <a:p>
            <a:r>
              <a:rPr b="0" dirty="0"/>
              <a:t>No alt text provided</a:t>
            </a:r>
            <a:endParaRPr dirty="0"/>
          </a:p>
          <a:p>
            <a:endParaRPr dirty="0"/>
          </a:p>
          <a:p>
            <a:r>
              <a:rPr b="1" dirty="0"/>
              <a:t>Data Audit IAB</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AVEARGE YEARLY CTC GRADEWISE</a:t>
            </a:r>
            <a:endParaRPr dirty="0"/>
          </a:p>
          <a:p>
            <a:r>
              <a:rPr b="0" dirty="0"/>
              <a:t>No alt text provided</a:t>
            </a:r>
            <a:endParaRPr dirty="0"/>
          </a:p>
          <a:p>
            <a:endParaRPr dirty="0"/>
          </a:p>
          <a:p>
            <a:r>
              <a:rPr b="1" dirty="0"/>
              <a:t>OVERALL AVERAGE YEARLY CTC</a:t>
            </a:r>
            <a:endParaRPr dirty="0"/>
          </a:p>
          <a:p>
            <a:r>
              <a:rPr b="0" dirty="0"/>
              <a:t>No alt text provided</a:t>
            </a:r>
            <a:endParaRPr dirty="0"/>
          </a:p>
          <a:p>
            <a:endParaRPr dirty="0"/>
          </a:p>
          <a:p>
            <a:r>
              <a:rPr b="1" dirty="0"/>
              <a:t>OVERALL SALARY PAYOUT FOR CURENT MONTH</a:t>
            </a:r>
            <a:endParaRPr dirty="0"/>
          </a:p>
          <a:p>
            <a:r>
              <a:rPr b="0" dirty="0"/>
              <a:t>No alt text provided</a:t>
            </a:r>
            <a:endParaRPr dirty="0"/>
          </a:p>
          <a:p>
            <a:endParaRPr dirty="0"/>
          </a:p>
          <a:p>
            <a:r>
              <a:rPr b="1" dirty="0"/>
              <a:t>AVERAGE YEARLY CTC GENDERWISE </a:t>
            </a:r>
            <a:endParaRPr dirty="0"/>
          </a:p>
          <a:p>
            <a:r>
              <a:rPr b="0" dirty="0"/>
              <a:t>No alt text provided</a:t>
            </a:r>
            <a:endParaRPr dirty="0"/>
          </a:p>
          <a:p>
            <a:endParaRPr dirty="0"/>
          </a:p>
          <a:p>
            <a:r>
              <a:rPr b="1" dirty="0"/>
              <a:t>MANAGERS Vs INDIVIDUAL CONTRIBUTERS AVERAGE YEARLY CTC (IN Rs) </a:t>
            </a:r>
            <a:endParaRPr dirty="0"/>
          </a:p>
          <a:p>
            <a:r>
              <a:rPr b="0" dirty="0"/>
              <a:t>No alt text provided</a:t>
            </a:r>
            <a:endParaRPr dirty="0"/>
          </a:p>
          <a:p>
            <a:endParaRPr dirty="0"/>
          </a:p>
          <a:p>
            <a:r>
              <a:rPr b="1" dirty="0"/>
              <a:t>AVERAGE YEARLY CTC MONTHWISE</a:t>
            </a:r>
            <a:endParaRPr dirty="0"/>
          </a:p>
          <a:p>
            <a:r>
              <a:rPr b="0" dirty="0"/>
              <a:t>No alt text provided</a:t>
            </a:r>
            <a:endParaRPr dirty="0"/>
          </a:p>
          <a:p>
            <a:endParaRPr dirty="0"/>
          </a:p>
          <a:p>
            <a:r>
              <a:rPr b="1" dirty="0"/>
              <a:t>PAYROLL HEADCOUNT MONTHWISE</a:t>
            </a:r>
            <a:endParaRPr dirty="0"/>
          </a:p>
          <a:p>
            <a:r>
              <a:rPr b="0" dirty="0"/>
              <a:t>No alt text provided</a:t>
            </a:r>
            <a:endParaRPr dirty="0"/>
          </a:p>
          <a:p>
            <a:endParaRPr dirty="0"/>
          </a:p>
          <a:p>
            <a:r>
              <a:rPr b="1" dirty="0"/>
              <a:t>TOTAL SALARY PAYOUT MONTHWISE</a:t>
            </a:r>
            <a:endParaRPr dirty="0"/>
          </a:p>
          <a:p>
            <a:r>
              <a:rPr b="0" dirty="0"/>
              <a:t>No alt text provided</a:t>
            </a:r>
            <a:endParaRPr dirty="0"/>
          </a:p>
          <a:p>
            <a:endParaRPr dirty="0"/>
          </a:p>
          <a:p>
            <a:r>
              <a:rPr b="1" dirty="0"/>
              <a:t>AVERAGE YEARLY CTC LOCATIONWISE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NEW JOINERS AVERAGE YEARLY CTC</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Compliance 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Headcount IAB</a:t>
            </a:r>
            <a:endParaRPr dirty="0"/>
          </a:p>
          <a:p>
            <a:r>
              <a:rPr b="0" dirty="0"/>
              <a:t>No alt text provided</a:t>
            </a:r>
            <a:endParaRPr dirty="0"/>
          </a:p>
          <a:p>
            <a:endParaRPr dirty="0"/>
          </a:p>
          <a:p>
            <a:r>
              <a:rPr b="1" dirty="0"/>
              <a:t>Salaries IAB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Productivity IAB</a:t>
            </a:r>
            <a:endParaRPr dirty="0"/>
          </a:p>
          <a:p>
            <a:r>
              <a:rPr b="0" dirty="0"/>
              <a:t>No alt text provided</a:t>
            </a:r>
            <a:endParaRPr dirty="0"/>
          </a:p>
          <a:p>
            <a:endParaRPr dirty="0"/>
          </a:p>
          <a:p>
            <a:r>
              <a:rPr b="1" dirty="0"/>
              <a:t>F&amp;F IAB</a:t>
            </a:r>
            <a:endParaRPr dirty="0"/>
          </a:p>
          <a:p>
            <a:r>
              <a:rPr b="0" dirty="0"/>
              <a:t>No alt text provided</a:t>
            </a:r>
            <a:endParaRPr dirty="0"/>
          </a:p>
          <a:p>
            <a:endParaRPr dirty="0"/>
          </a:p>
          <a:p>
            <a:r>
              <a:rPr b="1" dirty="0"/>
              <a:t>Qry Mgt IAB</a:t>
            </a:r>
            <a:endParaRPr dirty="0"/>
          </a:p>
          <a:p>
            <a:r>
              <a:rPr b="0" dirty="0"/>
              <a:t>No alt text provided</a:t>
            </a:r>
            <a:endParaRPr dirty="0"/>
          </a:p>
          <a:p>
            <a:endParaRPr dirty="0"/>
          </a:p>
          <a:p>
            <a:r>
              <a:rPr b="1" dirty="0"/>
              <a:t>Data Audit IAB</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OVERALL ESI CONTRIBUTION FOR CURRENT MONTH</a:t>
            </a:r>
            <a:endParaRPr dirty="0"/>
          </a:p>
          <a:p>
            <a:r>
              <a:rPr b="0" dirty="0"/>
              <a:t>No alt text provided</a:t>
            </a:r>
            <a:endParaRPr dirty="0"/>
          </a:p>
          <a:p>
            <a:endParaRPr dirty="0"/>
          </a:p>
          <a:p>
            <a:r>
              <a:rPr b="1" dirty="0"/>
              <a:t>OVERALL PF CONTRIBUTION FOR CURRENT MONTH</a:t>
            </a:r>
            <a:endParaRPr dirty="0"/>
          </a:p>
          <a:p>
            <a:r>
              <a:rPr b="0" dirty="0"/>
              <a:t>No alt text provided</a:t>
            </a:r>
            <a:endParaRPr dirty="0"/>
          </a:p>
          <a:p>
            <a:endParaRPr dirty="0"/>
          </a:p>
          <a:p>
            <a:r>
              <a:rPr b="1" dirty="0"/>
              <a:t>OVERALL PT CONTRIBUTION FOR CURRENT MONTH</a:t>
            </a:r>
            <a:endParaRPr dirty="0"/>
          </a:p>
          <a:p>
            <a:r>
              <a:rPr b="0" dirty="0"/>
              <a:t>No alt text provided</a:t>
            </a:r>
            <a:endParaRPr dirty="0"/>
          </a:p>
          <a:p>
            <a:endParaRPr dirty="0"/>
          </a:p>
          <a:p>
            <a:r>
              <a:rPr b="1" dirty="0"/>
              <a:t>TOTAL PF CONTRIBUTION GENDERWISE FOR CURRENT MONTH</a:t>
            </a:r>
            <a:endParaRPr dirty="0"/>
          </a:p>
          <a:p>
            <a:r>
              <a:rPr b="0" dirty="0"/>
              <a:t>No alt text provided</a:t>
            </a:r>
            <a:endParaRPr dirty="0"/>
          </a:p>
          <a:p>
            <a:endParaRPr dirty="0"/>
          </a:p>
          <a:p>
            <a:r>
              <a:rPr b="1" dirty="0"/>
              <a:t>TOTAL PF CONTRIBUTION MONTHWISE</a:t>
            </a:r>
            <a:endParaRPr dirty="0"/>
          </a:p>
          <a:p>
            <a:r>
              <a:rPr b="0" dirty="0"/>
              <a:t>No alt text provided</a:t>
            </a:r>
            <a:endParaRPr dirty="0"/>
          </a:p>
          <a:p>
            <a:endParaRPr dirty="0"/>
          </a:p>
          <a:p>
            <a:r>
              <a:rPr b="1" dirty="0"/>
              <a:t>TOTAL ESI CONTRIBUTION GENDERWISE FOR CURRENT MONTH</a:t>
            </a:r>
            <a:endParaRPr dirty="0"/>
          </a:p>
          <a:p>
            <a:r>
              <a:rPr b="0" dirty="0"/>
              <a:t>No alt text provided</a:t>
            </a:r>
            <a:endParaRPr dirty="0"/>
          </a:p>
          <a:p>
            <a:endParaRPr dirty="0"/>
          </a:p>
          <a:p>
            <a:r>
              <a:rPr b="1" dirty="0"/>
              <a:t>TOTAL ESI CONTRIBUTION MONTHWISE</a:t>
            </a:r>
            <a:endParaRPr dirty="0"/>
          </a:p>
          <a:p>
            <a:r>
              <a:rPr b="0" dirty="0"/>
              <a:t>No alt text provided</a:t>
            </a:r>
            <a:endParaRPr dirty="0"/>
          </a:p>
          <a:p>
            <a:endParaRPr dirty="0"/>
          </a:p>
          <a:p>
            <a:r>
              <a:rPr b="1" dirty="0"/>
              <a:t>TOTAL PT DEDUCTION MONTHWISE</a:t>
            </a:r>
            <a:endParaRPr dirty="0"/>
          </a:p>
          <a:p>
            <a:r>
              <a:rPr b="0" dirty="0"/>
              <a:t>No alt text provided</a:t>
            </a:r>
            <a:endParaRPr dirty="0"/>
          </a:p>
          <a:p>
            <a:endParaRPr dirty="0"/>
          </a:p>
          <a:p>
            <a:r>
              <a:rPr b="1" dirty="0"/>
              <a:t>TOTAL PF ADDITIONS</a:t>
            </a:r>
            <a:endParaRPr dirty="0"/>
          </a:p>
          <a:p>
            <a:r>
              <a:rPr b="0" dirty="0"/>
              <a:t>No alt text provided</a:t>
            </a:r>
            <a:endParaRPr dirty="0"/>
          </a:p>
          <a:p>
            <a:endParaRPr dirty="0"/>
          </a:p>
          <a:p>
            <a:r>
              <a:rPr b="1" dirty="0"/>
              <a:t>TOTAL ESI ADDITIONS</a:t>
            </a:r>
            <a:endParaRPr dirty="0"/>
          </a:p>
          <a:p>
            <a:r>
              <a:rPr b="0" dirty="0"/>
              <a:t>No alt text provided</a:t>
            </a:r>
            <a:endParaRPr dirty="0"/>
          </a:p>
          <a:p>
            <a:endParaRPr dirty="0"/>
          </a:p>
          <a:p>
            <a:r>
              <a:rPr b="1" dirty="0"/>
              <a:t>TOTAL ESI DELETIONS</a:t>
            </a:r>
            <a:endParaRPr dirty="0"/>
          </a:p>
          <a:p>
            <a:r>
              <a:rPr b="0" dirty="0"/>
              <a:t>No alt text provided</a:t>
            </a:r>
            <a:endParaRPr dirty="0"/>
          </a:p>
          <a:p>
            <a:endParaRPr dirty="0"/>
          </a:p>
          <a:p>
            <a:r>
              <a:rPr b="1" dirty="0"/>
              <a:t>TOTAL PF DELETIONS</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Productivity 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Headcount IAB</a:t>
            </a:r>
            <a:endParaRPr dirty="0"/>
          </a:p>
          <a:p>
            <a:r>
              <a:rPr b="0" dirty="0"/>
              <a:t>No alt text provided</a:t>
            </a:r>
            <a:endParaRPr dirty="0"/>
          </a:p>
          <a:p>
            <a:endParaRPr dirty="0"/>
          </a:p>
          <a:p>
            <a:r>
              <a:rPr b="1" dirty="0"/>
              <a:t>Salaries IAB</a:t>
            </a:r>
            <a:endParaRPr dirty="0"/>
          </a:p>
          <a:p>
            <a:r>
              <a:rPr b="0" dirty="0"/>
              <a:t>No alt text provided</a:t>
            </a:r>
            <a:endParaRPr dirty="0"/>
          </a:p>
          <a:p>
            <a:endParaRPr dirty="0"/>
          </a:p>
          <a:p>
            <a:r>
              <a:rPr b="1" dirty="0"/>
              <a:t>Compliance IAB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F&amp;F IAB</a:t>
            </a:r>
            <a:endParaRPr dirty="0"/>
          </a:p>
          <a:p>
            <a:r>
              <a:rPr b="0" dirty="0"/>
              <a:t>No alt text provided</a:t>
            </a:r>
            <a:endParaRPr dirty="0"/>
          </a:p>
          <a:p>
            <a:endParaRPr dirty="0"/>
          </a:p>
          <a:p>
            <a:r>
              <a:rPr b="1" dirty="0"/>
              <a:t>Qry Mgt IAB</a:t>
            </a:r>
            <a:endParaRPr dirty="0"/>
          </a:p>
          <a:p>
            <a:r>
              <a:rPr b="0" dirty="0"/>
              <a:t>No alt text provided</a:t>
            </a:r>
            <a:endParaRPr dirty="0"/>
          </a:p>
          <a:p>
            <a:endParaRPr dirty="0"/>
          </a:p>
          <a:p>
            <a:r>
              <a:rPr b="1" dirty="0"/>
              <a:t>Data Audit IAB</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CURRENT MONTH TOTAL ABSENTS</a:t>
            </a:r>
            <a:endParaRPr dirty="0"/>
          </a:p>
          <a:p>
            <a:r>
              <a:rPr b="0" dirty="0"/>
              <a:t>No alt text provided</a:t>
            </a:r>
            <a:endParaRPr dirty="0"/>
          </a:p>
          <a:p>
            <a:endParaRPr dirty="0"/>
          </a:p>
          <a:p>
            <a:r>
              <a:rPr b="1" dirty="0"/>
              <a:t>CURRENT MONTH LEAVE PERCENTAGE </a:t>
            </a:r>
            <a:endParaRPr dirty="0"/>
          </a:p>
          <a:p>
            <a:r>
              <a:rPr b="0" dirty="0"/>
              <a:t>No alt text provided</a:t>
            </a:r>
            <a:endParaRPr dirty="0"/>
          </a:p>
          <a:p>
            <a:endParaRPr dirty="0"/>
          </a:p>
          <a:p>
            <a:r>
              <a:rPr b="1" dirty="0"/>
              <a:t>CURRENT MONTH TOTAL LEAVES</a:t>
            </a:r>
            <a:endParaRPr dirty="0"/>
          </a:p>
          <a:p>
            <a:r>
              <a:rPr b="0" dirty="0"/>
              <a:t>No alt text provided</a:t>
            </a:r>
            <a:endParaRPr dirty="0"/>
          </a:p>
          <a:p>
            <a:endParaRPr dirty="0"/>
          </a:p>
          <a:p>
            <a:r>
              <a:rPr b="1" dirty="0"/>
              <a:t>CURRENT MONTH ABSENT PERCENTAGE</a:t>
            </a:r>
            <a:endParaRPr dirty="0"/>
          </a:p>
          <a:p>
            <a:r>
              <a:rPr b="0" dirty="0"/>
              <a:t>No alt text provided</a:t>
            </a:r>
            <a:endParaRPr dirty="0"/>
          </a:p>
          <a:p>
            <a:endParaRPr dirty="0"/>
          </a:p>
          <a:p>
            <a:r>
              <a:rPr b="1" dirty="0"/>
              <a:t>TOTAL ABSENT GENDERWISE FOR CURRENT MONTH</a:t>
            </a:r>
            <a:endParaRPr dirty="0"/>
          </a:p>
          <a:p>
            <a:r>
              <a:rPr b="0" dirty="0"/>
              <a:t>No alt text provided</a:t>
            </a:r>
            <a:endParaRPr dirty="0"/>
          </a:p>
          <a:p>
            <a:endParaRPr dirty="0"/>
          </a:p>
          <a:p>
            <a:r>
              <a:rPr b="1" dirty="0"/>
              <a:t>TOTAL LEAVES GENDERWISE FOR CURRENT MONTH</a:t>
            </a:r>
            <a:endParaRPr dirty="0"/>
          </a:p>
          <a:p>
            <a:r>
              <a:rPr b="0" dirty="0"/>
              <a:t>No alt text provided</a:t>
            </a:r>
            <a:endParaRPr dirty="0"/>
          </a:p>
          <a:p>
            <a:endParaRPr dirty="0"/>
          </a:p>
          <a:p>
            <a:r>
              <a:rPr b="1" dirty="0"/>
              <a:t>ABSENTS BY EMPLOYEES MONTHWISE</a:t>
            </a:r>
            <a:endParaRPr dirty="0"/>
          </a:p>
          <a:p>
            <a:r>
              <a:rPr b="0" dirty="0"/>
              <a:t>No alt text provided</a:t>
            </a:r>
            <a:endParaRPr dirty="0"/>
          </a:p>
          <a:p>
            <a:endParaRPr dirty="0"/>
          </a:p>
          <a:p>
            <a:r>
              <a:rPr b="1" dirty="0"/>
              <a:t>LEAVES Vs ABSENTS MONTHWISE (IN %)</a:t>
            </a:r>
            <a:endParaRPr dirty="0"/>
          </a:p>
          <a:p>
            <a:r>
              <a:rPr b="0" dirty="0"/>
              <a:t>No alt text provided</a:t>
            </a:r>
            <a:endParaRPr dirty="0"/>
          </a:p>
          <a:p>
            <a:endParaRPr dirty="0"/>
          </a:p>
          <a:p>
            <a:r>
              <a:rPr b="1" dirty="0"/>
              <a:t>LEAVES TAKEN BY EMPLOYEES MONTHWISE</a:t>
            </a:r>
            <a:endParaRPr dirty="0"/>
          </a:p>
          <a:p>
            <a:r>
              <a:rPr b="0" dirty="0"/>
              <a:t>No alt text provided</a:t>
            </a:r>
            <a:endParaRPr dirty="0"/>
          </a:p>
          <a:p>
            <a:endParaRPr dirty="0"/>
          </a:p>
          <a:p>
            <a:r>
              <a:rPr b="1" dirty="0"/>
              <a:t>OVERTIME PAID CLIENTWISE FOR CURRENT MONTH - NON MANAGERIAL</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Average Leaves per employee</a:t>
            </a:r>
            <a:endParaRPr dirty="0"/>
          </a:p>
          <a:p>
            <a:r>
              <a:rPr b="0" dirty="0"/>
              <a:t>No alt text provided</a:t>
            </a:r>
            <a:endParaRPr dirty="0"/>
          </a:p>
          <a:p>
            <a:endParaRPr dirty="0"/>
          </a:p>
          <a:p>
            <a:r>
              <a:rPr b="1" dirty="0"/>
              <a:t>Average Absent per employee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Qry Mgt 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Headcount IAB</a:t>
            </a:r>
            <a:endParaRPr dirty="0"/>
          </a:p>
          <a:p>
            <a:r>
              <a:rPr b="0" dirty="0"/>
              <a:t>No alt text provided</a:t>
            </a:r>
            <a:endParaRPr dirty="0"/>
          </a:p>
          <a:p>
            <a:endParaRPr dirty="0"/>
          </a:p>
          <a:p>
            <a:r>
              <a:rPr b="1" dirty="0"/>
              <a:t>Salaries IAB</a:t>
            </a:r>
            <a:endParaRPr dirty="0"/>
          </a:p>
          <a:p>
            <a:r>
              <a:rPr b="0" dirty="0"/>
              <a:t>No alt text provided</a:t>
            </a:r>
            <a:endParaRPr dirty="0"/>
          </a:p>
          <a:p>
            <a:endParaRPr dirty="0"/>
          </a:p>
          <a:p>
            <a:r>
              <a:rPr b="1" dirty="0"/>
              <a:t>Compliance IAB</a:t>
            </a:r>
            <a:endParaRPr dirty="0"/>
          </a:p>
          <a:p>
            <a:r>
              <a:rPr b="0" dirty="0"/>
              <a:t>No alt text provided</a:t>
            </a:r>
            <a:endParaRPr dirty="0"/>
          </a:p>
          <a:p>
            <a:endParaRPr dirty="0"/>
          </a:p>
          <a:p>
            <a:r>
              <a:rPr b="1" dirty="0"/>
              <a:t>Productivity IAB</a:t>
            </a:r>
            <a:endParaRPr dirty="0"/>
          </a:p>
          <a:p>
            <a:r>
              <a:rPr b="0" dirty="0"/>
              <a:t>No alt text provided</a:t>
            </a:r>
            <a:endParaRPr dirty="0"/>
          </a:p>
          <a:p>
            <a:endParaRPr dirty="0"/>
          </a:p>
          <a:p>
            <a:r>
              <a:rPr b="1" dirty="0"/>
              <a:t>F&amp;F IAB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Data Audit IAB</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OVERALL TICKETS RAISED YTD</a:t>
            </a:r>
            <a:endParaRPr dirty="0"/>
          </a:p>
          <a:p>
            <a:r>
              <a:rPr b="0" dirty="0"/>
              <a:t>No alt text provided</a:t>
            </a:r>
            <a:endParaRPr dirty="0"/>
          </a:p>
          <a:p>
            <a:endParaRPr dirty="0"/>
          </a:p>
          <a:p>
            <a:r>
              <a:rPr b="1" dirty="0"/>
              <a:t>OVERALL TICKETS CLOSED YTD</a:t>
            </a:r>
            <a:endParaRPr dirty="0"/>
          </a:p>
          <a:p>
            <a:r>
              <a:rPr b="0" dirty="0"/>
              <a:t>No alt text provided</a:t>
            </a:r>
            <a:endParaRPr dirty="0"/>
          </a:p>
          <a:p>
            <a:endParaRPr dirty="0"/>
          </a:p>
          <a:p>
            <a:r>
              <a:rPr b="1" dirty="0"/>
              <a:t>OVERAL AVERAGE TAT (IN Days)</a:t>
            </a:r>
            <a:endParaRPr dirty="0"/>
          </a:p>
          <a:p>
            <a:r>
              <a:rPr b="0" dirty="0"/>
              <a:t>No alt text provided</a:t>
            </a:r>
            <a:endParaRPr dirty="0"/>
          </a:p>
          <a:p>
            <a:endParaRPr dirty="0"/>
          </a:p>
          <a:p>
            <a:r>
              <a:rPr b="1" dirty="0"/>
              <a:t>OVERALL TICKETS PENDING RESPONSE TILL DATE</a:t>
            </a:r>
            <a:endParaRPr dirty="0"/>
          </a:p>
          <a:p>
            <a:r>
              <a:rPr b="0" dirty="0"/>
              <a:t>No alt text provided</a:t>
            </a:r>
            <a:endParaRPr dirty="0"/>
          </a:p>
          <a:p>
            <a:endParaRPr dirty="0"/>
          </a:p>
          <a:p>
            <a:r>
              <a:rPr b="1" dirty="0"/>
              <a:t>TOTAL TICKETS CLOSED MONTHWISE</a:t>
            </a:r>
            <a:endParaRPr dirty="0"/>
          </a:p>
          <a:p>
            <a:r>
              <a:rPr b="0" dirty="0"/>
              <a:t>No alt text provided</a:t>
            </a:r>
            <a:endParaRPr dirty="0"/>
          </a:p>
          <a:p>
            <a:endParaRPr dirty="0"/>
          </a:p>
          <a:p>
            <a:r>
              <a:rPr b="1" dirty="0"/>
              <a:t>TOTAL TICKETS RAISED MONTHWISE</a:t>
            </a:r>
            <a:endParaRPr dirty="0"/>
          </a:p>
          <a:p>
            <a:r>
              <a:rPr b="0" dirty="0"/>
              <a:t>No alt text provided</a:t>
            </a:r>
            <a:endParaRPr dirty="0"/>
          </a:p>
          <a:p>
            <a:endParaRPr dirty="0"/>
          </a:p>
          <a:p>
            <a:r>
              <a:rPr b="1" dirty="0"/>
              <a:t>TOTAL TICKETS MODEWISE</a:t>
            </a:r>
            <a:endParaRPr dirty="0"/>
          </a:p>
          <a:p>
            <a:r>
              <a:rPr b="0" dirty="0"/>
              <a:t>No alt text provided</a:t>
            </a:r>
            <a:endParaRPr dirty="0"/>
          </a:p>
          <a:p>
            <a:endParaRPr dirty="0"/>
          </a:p>
          <a:p>
            <a:r>
              <a:rPr b="1" dirty="0"/>
              <a:t>TOTAL TICKETS STAKEHOLDERWISE</a:t>
            </a:r>
            <a:endParaRPr dirty="0"/>
          </a:p>
          <a:p>
            <a:r>
              <a:rPr b="0" dirty="0"/>
              <a:t>No alt text provided</a:t>
            </a:r>
            <a:endParaRPr dirty="0"/>
          </a:p>
          <a:p>
            <a:endParaRPr dirty="0"/>
          </a:p>
          <a:p>
            <a:r>
              <a:rPr b="1" dirty="0"/>
              <a:t>TOTAL QUERY STATUS MONTHWISE</a:t>
            </a:r>
            <a:endParaRPr dirty="0"/>
          </a:p>
          <a:p>
            <a:r>
              <a:rPr b="0" dirty="0"/>
              <a:t>No alt text provided</a:t>
            </a:r>
            <a:endParaRPr dirty="0"/>
          </a:p>
          <a:p>
            <a:endParaRPr dirty="0"/>
          </a:p>
          <a:p>
            <a:r>
              <a:rPr b="1" dirty="0"/>
              <a:t>TAT FOR CLOSED TICKETS (IN Days)</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TICKETS TOPICWISE)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Data Audit 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Headcount IAB</a:t>
            </a:r>
            <a:endParaRPr dirty="0"/>
          </a:p>
          <a:p>
            <a:r>
              <a:rPr b="0" dirty="0"/>
              <a:t>No alt text provided</a:t>
            </a:r>
            <a:endParaRPr dirty="0"/>
          </a:p>
          <a:p>
            <a:endParaRPr dirty="0"/>
          </a:p>
          <a:p>
            <a:r>
              <a:rPr b="1" dirty="0"/>
              <a:t>Salaries IAB</a:t>
            </a:r>
            <a:endParaRPr dirty="0"/>
          </a:p>
          <a:p>
            <a:r>
              <a:rPr b="0" dirty="0"/>
              <a:t>No alt text provided</a:t>
            </a:r>
            <a:endParaRPr dirty="0"/>
          </a:p>
          <a:p>
            <a:endParaRPr dirty="0"/>
          </a:p>
          <a:p>
            <a:r>
              <a:rPr b="1" dirty="0"/>
              <a:t>Compliance IAB</a:t>
            </a:r>
            <a:endParaRPr dirty="0"/>
          </a:p>
          <a:p>
            <a:r>
              <a:rPr b="0" dirty="0"/>
              <a:t>No alt text provided</a:t>
            </a:r>
            <a:endParaRPr dirty="0"/>
          </a:p>
          <a:p>
            <a:endParaRPr dirty="0"/>
          </a:p>
          <a:p>
            <a:r>
              <a:rPr b="1" dirty="0"/>
              <a:t>Productivity IAB</a:t>
            </a:r>
            <a:endParaRPr dirty="0"/>
          </a:p>
          <a:p>
            <a:r>
              <a:rPr b="0" dirty="0"/>
              <a:t>No alt text provided</a:t>
            </a:r>
            <a:endParaRPr dirty="0"/>
          </a:p>
          <a:p>
            <a:endParaRPr dirty="0"/>
          </a:p>
          <a:p>
            <a:r>
              <a:rPr b="1" dirty="0"/>
              <a:t>F&amp;F IAB</a:t>
            </a:r>
            <a:endParaRPr dirty="0"/>
          </a:p>
          <a:p>
            <a:r>
              <a:rPr b="0" dirty="0"/>
              <a:t>No alt text provided</a:t>
            </a:r>
            <a:endParaRPr dirty="0"/>
          </a:p>
          <a:p>
            <a:endParaRPr dirty="0"/>
          </a:p>
          <a:p>
            <a:r>
              <a:rPr b="1" dirty="0"/>
              <a:t>Qry Mgt IAB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PAYROLL PROCESSING ACCURACY ACHIEVED IN % FOR CURRENT MONTH</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ERROR FREE PAYROLL PROCESSED HEADCOUNT FOR CURRENT MONTH</a:t>
            </a:r>
            <a:endParaRPr dirty="0"/>
          </a:p>
          <a:p>
            <a:r>
              <a:rPr b="0" dirty="0"/>
              <a:t>No alt text provided</a:t>
            </a:r>
            <a:endParaRPr dirty="0"/>
          </a:p>
          <a:p>
            <a:endParaRPr dirty="0"/>
          </a:p>
          <a:p>
            <a:r>
              <a:rPr b="1" dirty="0"/>
              <a:t>TCMPL PROCESSING ERRORS FOR CURRENT MONTH</a:t>
            </a:r>
            <a:endParaRPr dirty="0"/>
          </a:p>
          <a:p>
            <a:r>
              <a:rPr b="0" dirty="0"/>
              <a:t>No alt text provided</a:t>
            </a:r>
            <a:endParaRPr dirty="0"/>
          </a:p>
          <a:p>
            <a:endParaRPr dirty="0"/>
          </a:p>
          <a:p>
            <a:r>
              <a:rPr b="1" dirty="0"/>
              <a:t>CLIENT INPUT ERRORS  FOR CURRENT MONTH</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F&amp;F AB</a:t>
            </a:r>
            <a:endParaRPr dirty="0"/>
          </a:p>
          <a:p>
            <a:r>
              <a:rPr b="0" dirty="0"/>
              <a:t>No alt text provided</a:t>
            </a:r>
            <a:endParaRPr dirty="0"/>
          </a:p>
          <a:p>
            <a:endParaRPr dirty="0"/>
          </a:p>
          <a:p>
            <a:r>
              <a:rPr b="1" dirty="0"/>
              <a:t>Headcount IAB</a:t>
            </a:r>
            <a:endParaRPr dirty="0"/>
          </a:p>
          <a:p>
            <a:r>
              <a:rPr b="0" dirty="0"/>
              <a:t>No alt text provided</a:t>
            </a:r>
            <a:endParaRPr dirty="0"/>
          </a:p>
          <a:p>
            <a:endParaRPr dirty="0"/>
          </a:p>
          <a:p>
            <a:r>
              <a:rPr b="1" dirty="0"/>
              <a:t>Salaries IAB</a:t>
            </a:r>
            <a:endParaRPr dirty="0"/>
          </a:p>
          <a:p>
            <a:r>
              <a:rPr b="0" dirty="0"/>
              <a:t>No alt text provided</a:t>
            </a:r>
            <a:endParaRPr dirty="0"/>
          </a:p>
          <a:p>
            <a:endParaRPr dirty="0"/>
          </a:p>
          <a:p>
            <a:r>
              <a:rPr b="1" dirty="0"/>
              <a:t>Compliance IAB</a:t>
            </a:r>
            <a:endParaRPr dirty="0"/>
          </a:p>
          <a:p>
            <a:r>
              <a:rPr b="0" dirty="0"/>
              <a:t>No alt text provided</a:t>
            </a:r>
            <a:endParaRPr dirty="0"/>
          </a:p>
          <a:p>
            <a:endParaRPr dirty="0"/>
          </a:p>
          <a:p>
            <a:r>
              <a:rPr b="1" dirty="0"/>
              <a:t>Productivity IAB</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Qry Mgt IAB</a:t>
            </a:r>
            <a:endParaRPr dirty="0"/>
          </a:p>
          <a:p>
            <a:r>
              <a:rPr b="0" dirty="0"/>
              <a:t>No alt text provided</a:t>
            </a:r>
            <a:endParaRPr dirty="0"/>
          </a:p>
          <a:p>
            <a:endParaRPr dirty="0"/>
          </a:p>
          <a:p>
            <a:r>
              <a:rPr b="1" dirty="0"/>
              <a:t>Data Audit IAB</a:t>
            </a:r>
            <a:endParaRPr dirty="0"/>
          </a:p>
          <a:p>
            <a:r>
              <a:rPr b="0" dirty="0"/>
              <a:t>No alt text provided</a:t>
            </a:r>
            <a:endParaRPr dirty="0"/>
          </a:p>
          <a:p>
            <a:endParaRPr dirty="0"/>
          </a:p>
          <a:p>
            <a:r>
              <a:rPr b="1" dirty="0"/>
              <a:t>FULL &amp; FINAL SETTLEMENT STATUS</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funnel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gauge</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FULL &amp; FINAL SETTELEMENT STATUS FOR FEBRUARY 2026</a:t>
            </a:r>
            <a:endParaRPr dirty="0"/>
          </a:p>
          <a:p>
            <a:r>
              <a:rPr b="0" dirty="0"/>
              <a:t>No alt text provided</a:t>
            </a:r>
            <a:endParaRPr dirty="0"/>
          </a:p>
          <a:p>
            <a:endParaRPr dirty="0"/>
          </a:p>
          <a:p>
            <a:r>
              <a:rPr b="1" dirty="0"/>
              <a:t>MANUAL vs ONBOARDING TOOL JOININGS</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57250" y="1296174"/>
            <a:ext cx="5143500" cy="2757346"/>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857250" y="4159854"/>
            <a:ext cx="5143500" cy="191217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8" y="1974511"/>
            <a:ext cx="5915025" cy="3294515"/>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467918" y="5300194"/>
            <a:ext cx="5915025" cy="173250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108344"/>
            <a:ext cx="2914650" cy="502519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108344"/>
            <a:ext cx="2914650" cy="502519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3" y="421669"/>
            <a:ext cx="5915025" cy="1530841"/>
          </a:xfrm>
        </p:spPr>
        <p:txBody>
          <a:bodyPr/>
          <a:lstStyle/>
          <a:p>
            <a:r>
              <a:rPr lang="en-US"/>
              <a:t>Click to edit Master title style</a:t>
            </a:r>
          </a:p>
        </p:txBody>
      </p:sp>
      <p:sp>
        <p:nvSpPr>
          <p:cNvPr id="3" name="Text Placeholder 2"/>
          <p:cNvSpPr>
            <a:spLocks noGrp="1"/>
          </p:cNvSpPr>
          <p:nvPr>
            <p:ph type="body" idx="1"/>
          </p:nvPr>
        </p:nvSpPr>
        <p:spPr>
          <a:xfrm>
            <a:off x="472381" y="1941510"/>
            <a:ext cx="2901255"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72381" y="2893015"/>
            <a:ext cx="2901255" cy="42551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5" y="1941510"/>
            <a:ext cx="2915543"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471865" y="2893015"/>
            <a:ext cx="2915543" cy="42551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3" y="528002"/>
            <a:ext cx="2211883" cy="1848009"/>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2915545" y="1140340"/>
            <a:ext cx="3471863" cy="56283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3" y="2376011"/>
            <a:ext cx="2211883"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3" y="528002"/>
            <a:ext cx="2211883" cy="1848009"/>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2915545" y="1140340"/>
            <a:ext cx="3471863" cy="5628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472383" y="2376011"/>
            <a:ext cx="2211883"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6" y="421668"/>
            <a:ext cx="1478756" cy="671186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7" y="421668"/>
            <a:ext cx="4350544" cy="671186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296173"/>
            <a:ext cx="5829300" cy="275734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159854"/>
            <a:ext cx="5143500" cy="191217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11140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445864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1974512"/>
            <a:ext cx="5915025" cy="3294515"/>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5300194"/>
            <a:ext cx="5915025" cy="1732508"/>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390081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108344"/>
            <a:ext cx="2914650"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108344"/>
            <a:ext cx="2914650"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990641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21671"/>
            <a:ext cx="5915025" cy="1530841"/>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1941510"/>
            <a:ext cx="2901255" cy="95150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2893014"/>
            <a:ext cx="290125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1941510"/>
            <a:ext cx="2915543" cy="95150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2893014"/>
            <a:ext cx="2915543"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323723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352648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6124211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8002"/>
            <a:ext cx="2211884" cy="1848009"/>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140341"/>
            <a:ext cx="3471863" cy="562836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376011"/>
            <a:ext cx="2211884" cy="440185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6042737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8002"/>
            <a:ext cx="2211884" cy="1848009"/>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140341"/>
            <a:ext cx="3471863" cy="562836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376011"/>
            <a:ext cx="2211884" cy="440185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1799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23201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21669"/>
            <a:ext cx="1478756" cy="67118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21669"/>
            <a:ext cx="4350544"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1265175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6858002" cy="7920039"/>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1"/>
            <a:ext cx="1728788" cy="7920039"/>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425179" y="1296173"/>
            <a:ext cx="4945261" cy="2757347"/>
          </a:xfrm>
        </p:spPr>
        <p:txBody>
          <a:bodyPr anchor="b">
            <a:normAutofit/>
          </a:bodyPr>
          <a:lstStyle>
            <a:lvl1pPr algn="l">
              <a:defRPr sz="3600"/>
            </a:lvl1pPr>
          </a:lstStyle>
          <a:p>
            <a:r>
              <a:rPr lang="en-US"/>
              <a:t>Click to edit Master title style</a:t>
            </a:r>
            <a:endParaRPr lang="en-US" dirty="0"/>
          </a:p>
        </p:txBody>
      </p:sp>
      <p:sp>
        <p:nvSpPr>
          <p:cNvPr id="3" name="Subtitle 2"/>
          <p:cNvSpPr>
            <a:spLocks noGrp="1"/>
          </p:cNvSpPr>
          <p:nvPr>
            <p:ph type="subTitle" idx="1"/>
          </p:nvPr>
        </p:nvSpPr>
        <p:spPr>
          <a:xfrm>
            <a:off x="1425179" y="4159854"/>
            <a:ext cx="4945261" cy="1912175"/>
          </a:xfrm>
        </p:spPr>
        <p:txBody>
          <a:bodyPr>
            <a:normAutofit/>
          </a:bodyPr>
          <a:lstStyle>
            <a:lvl1pPr marL="0" indent="0" algn="l">
              <a:buNone/>
              <a:defRPr sz="1500" cap="all"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4350789" y="6248033"/>
            <a:ext cx="1543050" cy="421669"/>
          </a:xfrm>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a:xfrm>
            <a:off x="1425178" y="6248033"/>
            <a:ext cx="2882749" cy="421669"/>
          </a:xfrm>
        </p:spPr>
        <p:txBody>
          <a:bodyPr/>
          <a:lstStyle/>
          <a:p>
            <a:endParaRPr lang="en-US"/>
          </a:p>
        </p:txBody>
      </p:sp>
      <p:sp>
        <p:nvSpPr>
          <p:cNvPr id="6" name="Slide Number Placeholder 5"/>
          <p:cNvSpPr>
            <a:spLocks noGrp="1"/>
          </p:cNvSpPr>
          <p:nvPr>
            <p:ph type="sldNum" sz="quarter" idx="12"/>
          </p:nvPr>
        </p:nvSpPr>
        <p:spPr>
          <a:xfrm>
            <a:off x="5936703" y="6248030"/>
            <a:ext cx="433738" cy="421669"/>
          </a:xfrm>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449531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642046" y="714302"/>
            <a:ext cx="5572124" cy="1707543"/>
          </a:xfrm>
        </p:spPr>
        <p:txBody>
          <a:bodyPr/>
          <a:lstStyle/>
          <a:p>
            <a:r>
              <a:rPr lang="en-US"/>
              <a:t>Click to edit Master title style</a:t>
            </a:r>
            <a:endParaRPr lang="en-US" dirty="0"/>
          </a:p>
        </p:txBody>
      </p:sp>
      <p:sp>
        <p:nvSpPr>
          <p:cNvPr id="48" name="Content Placeholder 2"/>
          <p:cNvSpPr>
            <a:spLocks noGrp="1"/>
          </p:cNvSpPr>
          <p:nvPr>
            <p:ph idx="1"/>
          </p:nvPr>
        </p:nvSpPr>
        <p:spPr>
          <a:xfrm>
            <a:off x="642046" y="2597845"/>
            <a:ext cx="5572124" cy="4090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4194518" y="6794369"/>
            <a:ext cx="1543050" cy="421669"/>
          </a:xfrm>
        </p:spPr>
        <p:txBody>
          <a:bodyPr/>
          <a:lstStyle/>
          <a:p>
            <a:fld id="{627ED9C8-F09A-4D9E-BEC0-4725162E21FF}" type="datetimeFigureOut">
              <a:rPr lang="en-US" smtClean="0"/>
              <a:t>4/15/2026</a:t>
            </a:fld>
            <a:endParaRPr lang="en-US"/>
          </a:p>
        </p:txBody>
      </p:sp>
      <p:sp>
        <p:nvSpPr>
          <p:cNvPr id="50" name="Footer Placeholder 4"/>
          <p:cNvSpPr>
            <a:spLocks noGrp="1"/>
          </p:cNvSpPr>
          <p:nvPr>
            <p:ph type="ftr" sz="quarter" idx="11"/>
          </p:nvPr>
        </p:nvSpPr>
        <p:spPr>
          <a:xfrm>
            <a:off x="642044" y="6794368"/>
            <a:ext cx="3509612" cy="421669"/>
          </a:xfrm>
        </p:spPr>
        <p:txBody>
          <a:bodyPr/>
          <a:lstStyle/>
          <a:p>
            <a:endParaRPr lang="en-US"/>
          </a:p>
        </p:txBody>
      </p:sp>
      <p:sp>
        <p:nvSpPr>
          <p:cNvPr id="51" name="Slide Number Placeholder 5"/>
          <p:cNvSpPr>
            <a:spLocks noGrp="1"/>
          </p:cNvSpPr>
          <p:nvPr>
            <p:ph type="sldNum" sz="quarter" idx="12"/>
          </p:nvPr>
        </p:nvSpPr>
        <p:spPr>
          <a:xfrm>
            <a:off x="5780431" y="6794366"/>
            <a:ext cx="433738" cy="421669"/>
          </a:xfrm>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4844514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2044" y="1639011"/>
            <a:ext cx="5572125" cy="3294515"/>
          </a:xfrm>
        </p:spPr>
        <p:txBody>
          <a:bodyPr anchor="b">
            <a:normAutofit/>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642044" y="5109524"/>
            <a:ext cx="5572125" cy="1587675"/>
          </a:xfrm>
        </p:spPr>
        <p:txBody>
          <a:bodyPr>
            <a:normAutofit/>
          </a:bodyPr>
          <a:lstStyle>
            <a:lvl1pPr marL="0" indent="0">
              <a:buNone/>
              <a:defRPr sz="1350" cap="all" baseline="0">
                <a:solidFill>
                  <a:schemeClr val="tx1">
                    <a:tint val="75000"/>
                  </a:schemeClr>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617595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42044" y="2597844"/>
            <a:ext cx="2744094" cy="4090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597844"/>
            <a:ext cx="2742306" cy="4090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494120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2044" y="715006"/>
            <a:ext cx="5572125" cy="17068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09177" y="2597844"/>
            <a:ext cx="2576962" cy="95150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42044" y="3549349"/>
            <a:ext cx="2744095" cy="31386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38994" y="2597843"/>
            <a:ext cx="2575174" cy="95150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549349"/>
            <a:ext cx="2742306" cy="31386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124238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24643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467902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022" y="704005"/>
            <a:ext cx="2169021" cy="1893838"/>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00363" y="684447"/>
            <a:ext cx="3313805" cy="600358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5022" y="2597844"/>
            <a:ext cx="2169021" cy="40901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0133070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2046" y="704003"/>
            <a:ext cx="2815472" cy="1893841"/>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624650" y="704003"/>
            <a:ext cx="2589520" cy="5984031"/>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24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642044" y="2597844"/>
            <a:ext cx="2815473" cy="40901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2422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2043" y="4971291"/>
            <a:ext cx="5575700" cy="94624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043" y="700338"/>
            <a:ext cx="5575700" cy="3810786"/>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642018" y="5917532"/>
            <a:ext cx="5574858" cy="788160"/>
          </a:xfrm>
        </p:spPr>
        <p:txBody>
          <a:bodyP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79222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42070" y="704003"/>
            <a:ext cx="5572100" cy="3960019"/>
          </a:xfrm>
        </p:spPr>
        <p:txBody>
          <a:bodyPr anchor="ctr">
            <a:normAutofit/>
          </a:bodyPr>
          <a:lstStyle>
            <a:lvl1pPr>
              <a:defRPr sz="2700"/>
            </a:lvl1pPr>
          </a:lstStyle>
          <a:p>
            <a:r>
              <a:rPr lang="en-US"/>
              <a:t>Click to edit Master title style</a:t>
            </a:r>
            <a:endParaRPr lang="en-US" dirty="0"/>
          </a:p>
        </p:txBody>
      </p:sp>
      <p:sp>
        <p:nvSpPr>
          <p:cNvPr id="4" name="Text Placeholder 3"/>
          <p:cNvSpPr>
            <a:spLocks noGrp="1"/>
          </p:cNvSpPr>
          <p:nvPr>
            <p:ph type="body" sz="half" idx="2"/>
          </p:nvPr>
        </p:nvSpPr>
        <p:spPr>
          <a:xfrm>
            <a:off x="642044" y="5104025"/>
            <a:ext cx="5571258" cy="1584006"/>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613287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3494" y="704004"/>
            <a:ext cx="5232798" cy="3174054"/>
          </a:xfrm>
        </p:spPr>
        <p:txBody>
          <a:bodyPr anchor="ctr">
            <a:normAutofit/>
          </a:bodyPr>
          <a:lstStyle>
            <a:lvl1pPr>
              <a:defRPr sz="2700"/>
            </a:lvl1pPr>
          </a:lstStyle>
          <a:p>
            <a:r>
              <a:rPr lang="en-US"/>
              <a:t>Click to edit Master title style</a:t>
            </a:r>
            <a:endParaRPr lang="en-US" dirty="0"/>
          </a:p>
        </p:txBody>
      </p:sp>
      <p:sp>
        <p:nvSpPr>
          <p:cNvPr id="12" name="Text Placeholder 3"/>
          <p:cNvSpPr>
            <a:spLocks noGrp="1"/>
          </p:cNvSpPr>
          <p:nvPr>
            <p:ph type="body" sz="half" idx="13"/>
          </p:nvPr>
        </p:nvSpPr>
        <p:spPr>
          <a:xfrm>
            <a:off x="967863" y="3886751"/>
            <a:ext cx="4923168" cy="633982"/>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42043" y="4977358"/>
            <a:ext cx="5572127" cy="1720161"/>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
        <p:nvSpPr>
          <p:cNvPr id="52" name="TextBox 51"/>
          <p:cNvSpPr txBox="1"/>
          <p:nvPr/>
        </p:nvSpPr>
        <p:spPr>
          <a:xfrm>
            <a:off x="522434" y="829719"/>
            <a:ext cx="342900" cy="675335"/>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53" name="TextBox 52"/>
          <p:cNvSpPr txBox="1"/>
          <p:nvPr/>
        </p:nvSpPr>
        <p:spPr>
          <a:xfrm>
            <a:off x="5863105" y="3193159"/>
            <a:ext cx="342900" cy="675335"/>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Tree>
    <p:extLst>
      <p:ext uri="{BB962C8B-B14F-4D97-AF65-F5344CB8AC3E}">
        <p14:creationId xmlns:p14="http://schemas.microsoft.com/office/powerpoint/2010/main" val="8344504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42044" y="2464523"/>
            <a:ext cx="5572126" cy="2900821"/>
          </a:xfrm>
        </p:spPr>
        <p:txBody>
          <a:bodyPr anchor="b">
            <a:normAutofit/>
          </a:bodyPr>
          <a:lstStyle>
            <a:lvl1pPr>
              <a:defRPr sz="2700"/>
            </a:lvl1pPr>
          </a:lstStyle>
          <a:p>
            <a:r>
              <a:rPr lang="en-US"/>
              <a:t>Click to edit Master title style</a:t>
            </a:r>
            <a:endParaRPr lang="en-US" dirty="0"/>
          </a:p>
        </p:txBody>
      </p:sp>
      <p:sp>
        <p:nvSpPr>
          <p:cNvPr id="4" name="Text Placeholder 3"/>
          <p:cNvSpPr>
            <a:spLocks noGrp="1"/>
          </p:cNvSpPr>
          <p:nvPr>
            <p:ph type="body" sz="half" idx="2"/>
          </p:nvPr>
        </p:nvSpPr>
        <p:spPr>
          <a:xfrm>
            <a:off x="642018" y="5378945"/>
            <a:ext cx="5571284" cy="1317285"/>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43892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42046" y="704003"/>
            <a:ext cx="5572124" cy="2200011"/>
          </a:xfrm>
        </p:spPr>
        <p:txBody>
          <a:bodyPr/>
          <a:lstStyle/>
          <a:p>
            <a:r>
              <a:rPr lang="en-US"/>
              <a:t>Click to edit Master title style</a:t>
            </a:r>
            <a:endParaRPr lang="en-US" dirty="0"/>
          </a:p>
        </p:txBody>
      </p:sp>
      <p:sp>
        <p:nvSpPr>
          <p:cNvPr id="7" name="Text Placeholder 2"/>
          <p:cNvSpPr>
            <a:spLocks noGrp="1"/>
          </p:cNvSpPr>
          <p:nvPr>
            <p:ph type="body" idx="1"/>
          </p:nvPr>
        </p:nvSpPr>
        <p:spPr>
          <a:xfrm>
            <a:off x="642043" y="3088633"/>
            <a:ext cx="1798256" cy="792004"/>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42044" y="3880637"/>
            <a:ext cx="1797324" cy="280739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2539557" y="3092297"/>
            <a:ext cx="1791217" cy="792004"/>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2539556" y="3884300"/>
            <a:ext cx="1791719" cy="280739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4416999" y="3088633"/>
            <a:ext cx="1797170" cy="792004"/>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4416999" y="3880637"/>
            <a:ext cx="1797170" cy="280739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627ED9C8-F09A-4D9E-BEC0-4725162E21FF}"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1461517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42045" y="704003"/>
            <a:ext cx="5572124" cy="2200011"/>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42045" y="5086697"/>
            <a:ext cx="1797323" cy="665503"/>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642045" y="3080013"/>
            <a:ext cx="1797323" cy="1760008"/>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35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642045" y="5752201"/>
            <a:ext cx="1797323" cy="944495"/>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2525093" y="5086697"/>
            <a:ext cx="1800225" cy="665503"/>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2525093" y="3080013"/>
            <a:ext cx="1799404" cy="1760008"/>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35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2524271" y="5752198"/>
            <a:ext cx="1800225" cy="93583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4417070" y="5086696"/>
            <a:ext cx="1794792" cy="665503"/>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4417000" y="3080013"/>
            <a:ext cx="1797170" cy="1760008"/>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35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4416999" y="5752197"/>
            <a:ext cx="1797170" cy="935836"/>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627ED9C8-F09A-4D9E-BEC0-4725162E21FF}" type="datetimeFigureOut">
              <a:rPr lang="en-US" smtClean="0"/>
              <a:t>4/15/2026</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1539430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777937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86351" y="704004"/>
            <a:ext cx="1127819" cy="598403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42043" y="704004"/>
            <a:ext cx="4358582" cy="59840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5514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image" Target="../media/image2.pn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90" y="421669"/>
            <a:ext cx="5915025" cy="153084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90" y="2108344"/>
            <a:ext cx="5915025" cy="50251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7340703"/>
            <a:ext cx="1543050" cy="421669"/>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4/15/2026</a:t>
            </a:fld>
            <a:endParaRPr lang="en-US"/>
          </a:p>
        </p:txBody>
      </p:sp>
      <p:sp>
        <p:nvSpPr>
          <p:cNvPr id="5" name="Footer Placeholder 4"/>
          <p:cNvSpPr>
            <a:spLocks noGrp="1"/>
          </p:cNvSpPr>
          <p:nvPr>
            <p:ph type="ftr" sz="quarter" idx="3"/>
          </p:nvPr>
        </p:nvSpPr>
        <p:spPr>
          <a:xfrm>
            <a:off x="2271715" y="7340703"/>
            <a:ext cx="2314575" cy="42166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7340703"/>
            <a:ext cx="1543050" cy="421669"/>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21671"/>
            <a:ext cx="5915025" cy="15308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108344"/>
            <a:ext cx="5915025"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7340703"/>
            <a:ext cx="1543050" cy="421669"/>
          </a:xfrm>
          <a:prstGeom prst="rect">
            <a:avLst/>
          </a:prstGeom>
        </p:spPr>
        <p:txBody>
          <a:bodyPr vert="horz" lIns="91440" tIns="45720" rIns="91440" bIns="45720" rtlCol="0" anchor="ctr"/>
          <a:lstStyle>
            <a:lvl1pPr algn="l">
              <a:defRPr sz="900">
                <a:solidFill>
                  <a:schemeClr val="tx1">
                    <a:tint val="75000"/>
                  </a:schemeClr>
                </a:solidFill>
              </a:defRPr>
            </a:lvl1pPr>
          </a:lstStyle>
          <a:p>
            <a:fld id="{627ED9C8-F09A-4D9E-BEC0-4725162E21FF}" type="datetimeFigureOut">
              <a:rPr lang="en-US" smtClean="0"/>
              <a:t>4/15/2026</a:t>
            </a:fld>
            <a:endParaRPr lang="en-US"/>
          </a:p>
        </p:txBody>
      </p:sp>
      <p:sp>
        <p:nvSpPr>
          <p:cNvPr id="5" name="Footer Placeholder 4"/>
          <p:cNvSpPr>
            <a:spLocks noGrp="1"/>
          </p:cNvSpPr>
          <p:nvPr>
            <p:ph type="ftr" sz="quarter" idx="3"/>
          </p:nvPr>
        </p:nvSpPr>
        <p:spPr>
          <a:xfrm>
            <a:off x="2271713" y="7340703"/>
            <a:ext cx="2314575" cy="421669"/>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7340703"/>
            <a:ext cx="1543050" cy="421669"/>
          </a:xfrm>
          <a:prstGeom prst="rect">
            <a:avLst/>
          </a:prstGeom>
        </p:spPr>
        <p:txBody>
          <a:bodyPr vert="horz" lIns="91440" tIns="45720" rIns="91440" bIns="45720" rtlCol="0" anchor="ctr"/>
          <a:lstStyle>
            <a:lvl1pPr algn="r">
              <a:defRPr sz="9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422875301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6858002" cy="7920039"/>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0716" y="1"/>
            <a:ext cx="6781331" cy="7920039"/>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642046" y="714302"/>
            <a:ext cx="5572124" cy="1707543"/>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642046" y="2597845"/>
            <a:ext cx="5572124" cy="40901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194518" y="6794369"/>
            <a:ext cx="1543050" cy="421669"/>
          </a:xfrm>
          <a:prstGeom prst="rect">
            <a:avLst/>
          </a:prstGeom>
        </p:spPr>
        <p:txBody>
          <a:bodyPr vert="horz" lIns="91440" tIns="45720" rIns="91440" bIns="45720" rtlCol="0" anchor="ctr"/>
          <a:lstStyle>
            <a:lvl1pPr algn="r">
              <a:defRPr sz="788">
                <a:solidFill>
                  <a:schemeClr val="tx1">
                    <a:tint val="75000"/>
                  </a:schemeClr>
                </a:solidFill>
              </a:defRPr>
            </a:lvl1pPr>
          </a:lstStyle>
          <a:p>
            <a:fld id="{627ED9C8-F09A-4D9E-BEC0-4725162E21FF}" type="datetimeFigureOut">
              <a:rPr lang="en-US" smtClean="0"/>
              <a:t>4/15/2026</a:t>
            </a:fld>
            <a:endParaRPr lang="en-US"/>
          </a:p>
        </p:txBody>
      </p:sp>
      <p:sp>
        <p:nvSpPr>
          <p:cNvPr id="5" name="Footer Placeholder 4"/>
          <p:cNvSpPr>
            <a:spLocks noGrp="1"/>
          </p:cNvSpPr>
          <p:nvPr>
            <p:ph type="ftr" sz="quarter" idx="3"/>
          </p:nvPr>
        </p:nvSpPr>
        <p:spPr>
          <a:xfrm>
            <a:off x="642044" y="6794368"/>
            <a:ext cx="3509612" cy="421669"/>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780431" y="6794366"/>
            <a:ext cx="433738" cy="421669"/>
          </a:xfrm>
          <a:prstGeom prst="rect">
            <a:avLst/>
          </a:prstGeom>
        </p:spPr>
        <p:txBody>
          <a:bodyPr vert="horz" lIns="91440" tIns="45720" rIns="91440" bIns="45720" rtlCol="0" anchor="ctr"/>
          <a:lstStyle>
            <a:lvl1pPr algn="r">
              <a:defRPr sz="788">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357776314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685800" rtl="0" eaLnBrk="1" latinLnBrk="0" hangingPunct="1">
        <a:lnSpc>
          <a:spcPct val="90000"/>
        </a:lnSpc>
        <a:spcBef>
          <a:spcPct val="0"/>
        </a:spcBef>
        <a:buNone/>
        <a:defRPr sz="2700" kern="1200" cap="all" baseline="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d7402633-70e4-4ea7-8ba8-e187a2e28b0d/?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08D8-E254-A35F-2E7C-ADB8DCEEE617}"/>
              </a:ext>
            </a:extLst>
          </p:cNvPr>
          <p:cNvSpPr>
            <a:spLocks noGrp="1"/>
          </p:cNvSpPr>
          <p:nvPr>
            <p:ph type="ctrTitle"/>
          </p:nvPr>
        </p:nvSpPr>
        <p:spPr/>
        <p:txBody>
          <a:bodyPr>
            <a:normAutofit/>
          </a:bodyPr>
          <a:lstStyle/>
          <a:p>
            <a:r>
              <a:rPr lang="en-IN" sz="4000" dirty="0">
                <a:solidFill>
                  <a:schemeClr val="bg2"/>
                </a:solidFill>
              </a:rPr>
              <a:t>HR Analytics Dashboard</a:t>
            </a:r>
          </a:p>
        </p:txBody>
      </p:sp>
      <p:pic>
        <p:nvPicPr>
          <p:cNvPr id="5" name="Picture 4">
            <a:extLst>
              <a:ext uri="{FF2B5EF4-FFF2-40B4-BE49-F238E27FC236}">
                <a16:creationId xmlns:a16="http://schemas.microsoft.com/office/drawing/2014/main" id="{CE34EDCF-EA36-1059-65A3-1ED960D58BD5}"/>
              </a:ext>
            </a:extLst>
          </p:cNvPr>
          <p:cNvPicPr>
            <a:picLocks noChangeAspect="1"/>
          </p:cNvPicPr>
          <p:nvPr/>
        </p:nvPicPr>
        <p:blipFill>
          <a:blip r:embed="rId2">
            <a:alphaModFix amt="50000"/>
          </a:blip>
          <a:stretch>
            <a:fillRect/>
          </a:stretch>
        </p:blipFill>
        <p:spPr>
          <a:xfrm>
            <a:off x="5659072" y="6783538"/>
            <a:ext cx="976505" cy="976505"/>
          </a:xfrm>
          <a:prstGeom prst="rect">
            <a:avLst/>
          </a:prstGeom>
        </p:spPr>
      </p:pic>
      <p:pic>
        <p:nvPicPr>
          <p:cNvPr id="7" name="Picture 6">
            <a:extLst>
              <a:ext uri="{FF2B5EF4-FFF2-40B4-BE49-F238E27FC236}">
                <a16:creationId xmlns:a16="http://schemas.microsoft.com/office/drawing/2014/main" id="{E48E1182-4956-6BEB-183B-2D9D0D0FEDDF}"/>
              </a:ext>
            </a:extLst>
          </p:cNvPr>
          <p:cNvPicPr>
            <a:picLocks noChangeAspect="1"/>
          </p:cNvPicPr>
          <p:nvPr/>
        </p:nvPicPr>
        <p:blipFill>
          <a:blip r:embed="rId3">
            <a:alphaModFix amt="85000"/>
          </a:blip>
          <a:stretch>
            <a:fillRect/>
          </a:stretch>
        </p:blipFill>
        <p:spPr>
          <a:xfrm>
            <a:off x="296239" y="208458"/>
            <a:ext cx="976505" cy="976505"/>
          </a:xfrm>
          <a:prstGeom prst="rect">
            <a:avLst/>
          </a:prstGeom>
        </p:spPr>
      </p:pic>
    </p:spTree>
    <p:extLst>
      <p:ext uri="{BB962C8B-B14F-4D97-AF65-F5344CB8AC3E}">
        <p14:creationId xmlns:p14="http://schemas.microsoft.com/office/powerpoint/2010/main" val="4294938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Headcount AB ,actionButton ,actionButton ,actionButton ,actionButton ,actionButton ,actionButton ,actionButton ,Salaries IAB ,Compliance IAB ,Productivity IAB ,F&amp;F IAB ,Qry Mgt IAB ,Data Audit IAB ,clusteredColumnChart ,OVERALL HEADCOUNT FOR CURRENT MONTH ,YTD NEW JOINEES ,YTD SEPARATIONS ,WORKFORCE TENURE SEGMENTATION ,CURRENT WORKFORCE AGE GROUP SEGMENTATION ,SPAN OF CONTROL (SOC) ,GENDER RATIO FOR CURRENT MONTH ,MANAGER &amp; INDIVIDUAL CONTRIBUTORS CURRENT HEADCOUNT ,SEPARATIONS MONTHWISE ,NEW JOINEES MONTHWISE ,CURRENT HEADCOUNT GRADEWISE ,HEADCOUNT MONTHWISE ,HEADCOUNT LOCATIONWISE FOR CURRENT MONTH ,HEADCOUNT DEPARTMENTWISE FOR CURRENT MONTH ,card ,card ,card ,pieChart ,clusteredColumnChart ,pieChart ,clusteredColumnChart ,clusteredColumnChart ,clusteredColumnChart ,clusteredColumnChart ,clusteredColumnChart ,clusteredColumnChart ,card ,card ,card ,card ,columnChart ,columnChart ,clusteredColumnChart ,clusteredColumnChart ,clusteredColumnChart ,clusteredColumnChart ,textbox ,funnel ,card ,card ,pieChart ,pieChart ,clusteredColumnChart ,clusteredColumnChart ,clusteredColumnChart ,clusteredColumnChart ,card ,card ,card ,card ,pieChart ,pieChart ,clusteredColumnChart ,clusteredColumnChart ,clusteredColumnChart ,clusteredColumnChart ,pieChart ,card ,image ,textbox ,gauge ,clusteredColumnChart ,textbox ,pieChart ,textbox ,columnChart ,card ,card ,card ,clusteredColumnChart ,clusteredColumnChart ,card ,card ,clusteredColumnChart ,clusteredColumnChart ,image ,textbox. Please refer to the notes on this slide for details">
            <a:hlinkClick r:id="rId3"/>
          </p:cNvPr>
          <p:cNvPicPr>
            <a:picLocks noChangeAspect="1"/>
          </p:cNvPicPr>
          <p:nvPr/>
        </p:nvPicPr>
        <p:blipFill>
          <a:blip r:embed="rId4"/>
          <a:stretch>
            <a:fillRect/>
          </a:stretch>
        </p:blipFill>
        <p:spPr>
          <a:xfrm>
            <a:off x="0" y="0"/>
            <a:ext cx="6858000" cy="7920038"/>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Salaries AB ,actionButton ,actionButton ,actionButton ,actionButton ,actionButton ,Headcount IAB ,actionButton ,Compliance IAB ,Productivity IAB ,F&amp;F IAB ,Qry Mgt IAB ,Data Audit IAB ,clusteredColumnChart ,card ,card ,card ,clusteredColumnChart ,clusteredColumnChart ,card ,pieChart ,pieChart ,lineClusteredColumnComboChart ,clusteredColumnChart ,funnel ,clusteredColumnChart ,clusteredColumnChart ,clusteredColumnChart ,card ,card ,card ,pieChart ,clusteredColumnChart ,pieChart ,clusteredColumnChart ,clusteredColumnChart ,clusteredColumnChart ,clusteredColumnChart ,clusteredColumnChart ,clusteredColumnChart ,card ,card ,card ,card ,columnChart ,columnChart ,clusteredColumnChart ,clusteredColumnChart ,clusteredColumnChart ,clusteredColumnChart ,textbox ,AVEARGE YEARLY CTC GRADEWISE ,OVERALL AVERAGE YEARLY CTC ,OVERALL SALARY PAYOUT FOR CURENT MONTH ,AVERAGE YEARLY CTC GENDERWISE  ,MANAGERS Vs INDIVIDUAL CONTRIBUTERS AVERAGE YEARLY CTC (IN Rs)  ,AVERAGE YEARLY CTC MONTHWISE ,PAYROLL HEADCOUNT MONTHWISE ,TOTAL SALARY PAYOUT MONTHWISE ,AVERAGE YEARLY CTC LOCATIONWISE ,card ,card ,card ,card ,pieChart ,pieChart ,clusteredColumnChart ,clusteredColumnChart ,clusteredColumnChart ,clusteredColumnChart ,pieChart ,card ,image ,textbox ,gauge ,clusteredColumnChart ,textbox ,pieChart ,textbox ,columnChart ,card ,card ,card ,clusteredColumnChart ,NEW JOINERS AVERAGE YEARLY CTC ,card ,card ,clusteredColumnChart ,clusteredColumnChart ,image ,textbox. Please refer to the notes on this slide for details">
            <a:hlinkClick r:id="rId3"/>
          </p:cNvPr>
          <p:cNvPicPr>
            <a:picLocks noChangeAspect="1"/>
          </p:cNvPicPr>
          <p:nvPr/>
        </p:nvPicPr>
        <p:blipFill>
          <a:blip r:embed="rId4"/>
          <a:stretch>
            <a:fillRect/>
          </a:stretch>
        </p:blipFill>
        <p:spPr>
          <a:xfrm>
            <a:off x="0" y="0"/>
            <a:ext cx="6858000" cy="7920037"/>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actionButton ,Compliance AB ,actionButton ,actionButton ,actionButton ,actionButton ,Headcount IAB ,Salaries IAB ,actionButton ,Productivity IAB ,F&amp;F IAB ,Qry Mgt IAB ,Data Audit IAB ,clusteredColumnChart ,card ,card ,card ,clusteredColumnChart ,clusteredColumnChart ,card ,pieChart ,pieChart ,lineClusteredColumnComboChart ,clusteredColumnChart ,funnel ,clusteredColumnChart ,clusteredColumnChart ,clusteredColumnChart ,OVERALL ESI CONTRIBUTION FOR CURRENT MONTH ,OVERALL PF CONTRIBUTION FOR CURRENT MONTH ,OVERALL PT CONTRIBUTION FOR CURRENT MONTH ,TOTAL PF CONTRIBUTION GENDERWISE FOR CURRENT MONTH ,TOTAL PF CONTRIBUTION MONTHWISE ,TOTAL ESI CONTRIBUTION GENDERWISE FOR CURRENT MONTH ,TOTAL ESI CONTRIBUTION MONTHWISE ,TOTAL PT DEDUCTION MONTHWISE ,TOTAL PF ADDITIONS ,TOTAL ESI ADDITIONS ,TOTAL ESI DELETIONS ,TOTAL PF DELETIONS ,card ,card ,card ,card ,columnChart ,columnChart ,clusteredColumnChart ,clusteredColumnChart ,clusteredColumnChart ,clusteredColumnChart ,textbox ,funnel ,card ,card ,pieChart ,pieChart ,clusteredColumnChart ,clusteredColumnChart ,clusteredColumnChart ,clusteredColumnChart ,card ,card ,card ,card ,pieChart ,pieChart ,clusteredColumnChart ,clusteredColumnChart ,clusteredColumnChart ,clusteredColumnChart ,pieChart ,card ,image ,textbox ,gauge ,clusteredColumnChart ,textbox ,pieChart ,textbox ,columnChart ,card ,card ,card ,clusteredColumnChart ,clusteredColumnChart ,card ,card ,clusteredColumnChart ,clusteredColumnChart ,image ,textbox. Please refer to the notes on this slide for details">
            <a:hlinkClick r:id="rId3"/>
          </p:cNvPr>
          <p:cNvPicPr>
            <a:picLocks noChangeAspect="1"/>
          </p:cNvPicPr>
          <p:nvPr/>
        </p:nvPicPr>
        <p:blipFill>
          <a:blip r:embed="rId4"/>
          <a:stretch>
            <a:fillRect/>
          </a:stretch>
        </p:blipFill>
        <p:spPr>
          <a:xfrm>
            <a:off x="0" y="1"/>
            <a:ext cx="6858000" cy="7920038"/>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actionButton ,actionButton ,Productivity AB ,actionButton ,actionButton ,actionButton ,Headcount IAB ,Salaries IAB ,Compliance IAB ,actionButton ,F&amp;F IAB ,Qry Mgt IAB ,Data Audit IAB ,clusteredColumnChart ,card ,card ,card ,clusteredColumnChart ,clusteredColumnChart ,card ,pieChart ,pieChart ,lineClusteredColumnComboChart ,clusteredColumnChart ,funnel ,clusteredColumnChart ,clusteredColumnChart ,clusteredColumnChart ,card ,card ,card ,pieChart ,clusteredColumnChart ,pieChart ,clusteredColumnChart ,clusteredColumnChart ,clusteredColumnChart ,clusteredColumnChart ,clusteredColumnChart ,clusteredColumnChart ,card ,card ,card ,card ,columnChart ,columnChart ,clusteredColumnChart ,clusteredColumnChart ,clusteredColumnChart ,clusteredColumnChart ,textbox ,funnel ,card ,card ,pieChart ,pieChart ,clusteredColumnChart ,clusteredColumnChart ,clusteredColumnChart ,clusteredColumnChart ,CURRENT MONTH TOTAL ABSENTS ,CURRENT MONTH LEAVE PERCENTAGE  ,CURRENT MONTH TOTAL LEAVES ,CURRENT MONTH ABSENT PERCENTAGE ,TOTAL ABSENT GENDERWISE FOR CURRENT MONTH ,TOTAL LEAVES GENDERWISE FOR CURRENT MONTH ,ABSENTS BY EMPLOYEES MONTHWISE ,LEAVES Vs ABSENTS MONTHWISE (IN %) ,LEAVES TAKEN BY EMPLOYEES MONTHWISE ,OVERTIME PAID CLIENTWISE FOR CURRENT MONTH - NON MANAGERIAL ,pieChart ,card ,image ,textbox ,gauge ,clusteredColumnChart ,textbox ,pieChart ,textbox ,columnChart ,card ,card ,card ,clusteredColumnChart ,clusteredColumnChart ,Average Leaves per employee ,Average Absent per employee ,clusteredColumnChart ,clusteredColumnChart ,image ,textbox. Please refer to the notes on this slide for details">
            <a:hlinkClick r:id="rId3"/>
          </p:cNvPr>
          <p:cNvPicPr>
            <a:picLocks noChangeAspect="1"/>
          </p:cNvPicPr>
          <p:nvPr/>
        </p:nvPicPr>
        <p:blipFill>
          <a:blip r:embed="rId4"/>
          <a:stretch>
            <a:fillRect/>
          </a:stretch>
        </p:blipFill>
        <p:spPr>
          <a:xfrm>
            <a:off x="0" y="0"/>
            <a:ext cx="6858000" cy="7920037"/>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actionButton ,actionButton ,actionButton ,Qry Mgt AB ,actionButton ,actionButton ,Headcount IAB ,Salaries IAB ,Compliance IAB ,Productivity IAB ,F&amp;F IAB ,actionButton ,Data Audit IAB ,clusteredColumnChart ,card ,card ,card ,clusteredColumnChart ,clusteredColumnChart ,card ,pieChart ,pieChart ,lineClusteredColumnComboChart ,clusteredColumnChart ,funnel ,clusteredColumnChart ,clusteredColumnChart ,clusteredColumnChart ,card ,card ,card ,pieChart ,clusteredColumnChart ,pieChart ,clusteredColumnChart ,clusteredColumnChart ,clusteredColumnChart ,clusteredColumnChart ,clusteredColumnChart ,clusteredColumnChart ,OVERALL TICKETS RAISED YTD ,OVERALL TICKETS CLOSED YTD ,OVERAL AVERAGE TAT (IN Days) ,OVERALL TICKETS PENDING RESPONSE TILL DATE ,TOTAL TICKETS CLOSED MONTHWISE ,TOTAL TICKETS RAISED MONTHWISE ,TOTAL TICKETS MODEWISE ,TOTAL TICKETS STAKEHOLDERWISE ,TOTAL QUERY STATUS MONTHWISE ,TAT FOR CLOSED TICKETS (IN Days) ,textbox ,funnel ,card ,card ,pieChart ,pieChart ,clusteredColumnChart ,clusteredColumnChart ,clusteredColumnChart ,clusteredColumnChart ,card ,card ,card ,card ,pieChart ,pieChart ,clusteredColumnChart ,clusteredColumnChart ,clusteredColumnChart ,clusteredColumnChart ,pieChart ,card ,image ,textbox ,gauge ,clusteredColumnChart ,textbox ,pieChart ,textbox ,columnChart ,card ,card ,card ,TICKETS TOPICWISE) ,clusteredColumnChart ,card ,card ,clusteredColumnChart ,clusteredColumnChart ,image ,textbox. Please refer to the notes on this slide for details">
            <a:hlinkClick r:id="rId3"/>
          </p:cNvPr>
          <p:cNvPicPr>
            <a:picLocks noChangeAspect="1"/>
          </p:cNvPicPr>
          <p:nvPr/>
        </p:nvPicPr>
        <p:blipFill>
          <a:blip r:embed="rId4"/>
          <a:stretch>
            <a:fillRect/>
          </a:stretch>
        </p:blipFill>
        <p:spPr>
          <a:xfrm>
            <a:off x="0" y="0"/>
            <a:ext cx="6858000" cy="7920037"/>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actionButton ,actionButton ,actionButton ,actionButton ,Data Audit AB ,actionButton ,Headcount IAB ,Salaries IAB ,Compliance IAB ,Productivity IAB ,F&amp;F IAB ,Qry Mgt IAB ,actionButton ,clusteredColumnChart ,card ,card ,card ,clusteredColumnChart ,clusteredColumnChart ,card ,pieChart ,pieChart ,lineClusteredColumnComboChart ,clusteredColumnChart ,funnel ,clusteredColumnChart ,clusteredColumnChart ,clusteredColumnChart ,card ,card ,card ,pieChart ,clusteredColumnChart ,pieChart ,clusteredColumnChart ,clusteredColumnChart ,clusteredColumnChart ,clusteredColumnChart ,clusteredColumnChart ,clusteredColumnChart ,card ,card ,card ,card ,columnChart ,columnChart ,clusteredColumnChart ,clusteredColumnChart ,clusteredColumnChart ,clusteredColumnChart ,textbox ,funnel ,card ,card ,pieChart ,pieChart ,clusteredColumnChart ,clusteredColumnChart ,clusteredColumnChart ,clusteredColumnChart ,card ,card ,card ,card ,pieChart ,pieChart ,clusteredColumnChart ,clusteredColumnChart ,clusteredColumnChart ,clusteredColumnChart ,PAYROLL PROCESSING ACCURACY ACHIEVED IN % FOR CURRENT MONTH ,card ,image ,textbox ,gauge ,clusteredColumnChart ,textbox ,pieChart ,textbox ,columnChart ,ERROR FREE PAYROLL PROCESSED HEADCOUNT FOR CURRENT MONTH ,TCMPL PROCESSING ERRORS FOR CURRENT MONTH ,CLIENT INPUT ERRORS  FOR CURRENT MONTH ,clusteredColumnChart ,clusteredColumnChart ,card ,card ,clusteredColumnChart ,clusteredColumnChart ,image ,textbox. Please refer to the notes on this slide for details">
            <a:hlinkClick r:id="rId3"/>
          </p:cNvPr>
          <p:cNvPicPr>
            <a:picLocks noChangeAspect="1"/>
          </p:cNvPicPr>
          <p:nvPr/>
        </p:nvPicPr>
        <p:blipFill>
          <a:blip r:embed="rId4"/>
          <a:stretch>
            <a:fillRect/>
          </a:stretch>
        </p:blipFill>
        <p:spPr>
          <a:xfrm>
            <a:off x="0" y="0"/>
            <a:ext cx="6858000" cy="7920037"/>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actionButton ,actionButton ,actionButton ,actionButton ,actionButton ,F&amp;F AB ,Headcount IAB ,Salaries IAB ,Compliance IAB ,Productivity IAB ,actionButton ,Qry Mgt IAB ,Data Audit IAB ,FULL &amp; FINAL SETTLEMENT STATUS ,card ,card ,card ,clusteredColumnChart ,clusteredColumnChart ,card ,pieChart ,pieChart ,lineClusteredColumnComboChart ,clusteredColumnChart ,funnel ,clusteredColumnChart ,clusteredColumnChart ,clusteredColumnChart ,card ,card ,card ,pieChart ,clusteredColumnChart ,pieChart ,clusteredColumnChart ,clusteredColumnChart ,clusteredColumnChart ,clusteredColumnChart ,clusteredColumnChart ,clusteredColumnChart ,card ,card ,card ,card ,columnChart ,columnChart ,clusteredColumnChart ,clusteredColumnChart ,clusteredColumnChart ,clusteredColumnChart ,textbox ,funnel ,card ,card ,pieChart ,pieChart ,clusteredColumnChart ,clusteredColumnChart ,clusteredColumnChart ,clusteredColumnChart ,card ,card ,card ,card ,pieChart ,pieChart ,clusteredColumnChart ,clusteredColumnChart ,clusteredColumnChart ,clusteredColumnChart ,pieChart ,card ,image ,textbox ,gauge ,clusteredColumnChart ,textbox ,pieChart ,textbox ,columnChart ,card ,card ,card ,clusteredColumnChart ,clusteredColumnChart ,card ,card ,FULL &amp; FINAL SETTELEMENT STATUS FOR FEBRUARY 2026 ,MANUAL vs ONBOARDING TOOL JOININGS ,image ,textbox. Please refer to the notes on this slide for details">
            <a:hlinkClick r:id="rId3"/>
          </p:cNvPr>
          <p:cNvPicPr>
            <a:picLocks noChangeAspect="1"/>
          </p:cNvPicPr>
          <p:nvPr/>
        </p:nvPicPr>
        <p:blipFill>
          <a:blip r:embed="rId4"/>
          <a:stretch>
            <a:fillRect/>
          </a:stretch>
        </p:blipFill>
        <p:spPr>
          <a:xfrm>
            <a:off x="0" y="0"/>
            <a:ext cx="6858000" cy="7920037"/>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8BC9D56D519C46AAE6072BCCFC97D0" ma:contentTypeVersion="14" ma:contentTypeDescription="Create a new document." ma:contentTypeScope="" ma:versionID="be82b0e2c5b78bdbdf100df2c8dc1401">
  <xsd:schema xmlns:xsd="http://www.w3.org/2001/XMLSchema" xmlns:xs="http://www.w3.org/2001/XMLSchema" xmlns:p="http://schemas.microsoft.com/office/2006/metadata/properties" xmlns:ns2="3eb9775f-7df2-448b-a214-18756bb4f8e7" xmlns:ns3="d963dc94-822e-4a18-a78e-22752f496962" targetNamespace="http://schemas.microsoft.com/office/2006/metadata/properties" ma:root="true" ma:fieldsID="95ba0f1e113df98a46d1ba826607d7de" ns2:_="" ns3:_="">
    <xsd:import namespace="3eb9775f-7df2-448b-a214-18756bb4f8e7"/>
    <xsd:import namespace="d963dc94-822e-4a18-a78e-22752f49696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EmailStatu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b9775f-7df2-448b-a214-18756bb4f8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5889574-4e62-46f5-af1b-215819b2869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EmailStatus" ma:index="21" ma:displayName="Email Status" ma:default="0" ma:description="Status of Email Template Sent to Client  " ma:format="Dropdown" ma:indexed="true" ma:internalName="EmailStatus">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963dc94-822e-4a18-a78e-22752f49696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649b032-a1d6-43e9-bda4-90823d761e64}" ma:internalName="TaxCatchAll" ma:showField="CatchAllData" ma:web="d963dc94-822e-4a18-a78e-22752f49696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EmailStatus xmlns="3eb9775f-7df2-448b-a214-18756bb4f8e7">false</EmailStatus>
    <lcf76f155ced4ddcb4097134ff3c332f xmlns="3eb9775f-7df2-448b-a214-18756bb4f8e7">
      <Terms xmlns="http://schemas.microsoft.com/office/infopath/2007/PartnerControls"/>
    </lcf76f155ced4ddcb4097134ff3c332f>
    <TaxCatchAll xmlns="d963dc94-822e-4a18-a78e-22752f496962" xsi:nil="true"/>
  </documentManagement>
</p:properties>
</file>

<file path=customXml/itemProps1.xml><?xml version="1.0" encoding="utf-8"?>
<ds:datastoreItem xmlns:ds="http://schemas.openxmlformats.org/officeDocument/2006/customXml" ds:itemID="{E4226AE7-F20C-440B-98C9-6429DE5BC1CB}"/>
</file>

<file path=customXml/itemProps2.xml><?xml version="1.0" encoding="utf-8"?>
<ds:datastoreItem xmlns:ds="http://schemas.openxmlformats.org/officeDocument/2006/customXml" ds:itemID="{2179D455-F293-4A56-AEA6-685739DD37E2}"/>
</file>

<file path=customXml/itemProps3.xml><?xml version="1.0" encoding="utf-8"?>
<ds:datastoreItem xmlns:ds="http://schemas.openxmlformats.org/officeDocument/2006/customXml" ds:itemID="{5A9A1B30-35EC-406C-9396-F56CD7539B0C}"/>
</file>

<file path=docProps/app.xml><?xml version="1.0" encoding="utf-8"?>
<Properties xmlns="http://schemas.openxmlformats.org/officeDocument/2006/extended-properties" xmlns:vt="http://schemas.openxmlformats.org/officeDocument/2006/docPropsVTypes">
  <Template/>
  <TotalTime>21</TotalTime>
  <Words>3594</Words>
  <Application>Microsoft Office PowerPoint</Application>
  <PresentationFormat>Custom</PresentationFormat>
  <Paragraphs>1954</Paragraphs>
  <Slides>8</Slides>
  <Notes>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8</vt:i4>
      </vt:variant>
    </vt:vector>
  </HeadingPairs>
  <TitlesOfParts>
    <vt:vector size="16" baseType="lpstr">
      <vt:lpstr>Aptos</vt:lpstr>
      <vt:lpstr>Arial</vt:lpstr>
      <vt:lpstr>Calibri</vt:lpstr>
      <vt:lpstr>Calibri Light</vt:lpstr>
      <vt:lpstr>Tw Cen MT</vt:lpstr>
      <vt:lpstr>Custom Design</vt:lpstr>
      <vt:lpstr>Office 2013 - 2022 Theme</vt:lpstr>
      <vt:lpstr>Circuit</vt:lpstr>
      <vt:lpstr>HR Analytics Dashboard</vt:lpstr>
      <vt:lpstr>Dashboard</vt:lpstr>
      <vt:lpstr>Dashboard</vt:lpstr>
      <vt:lpstr>Dashboard</vt:lpstr>
      <vt:lpstr>Dashboard</vt:lpstr>
      <vt:lpstr>Dashboard</vt:lpstr>
      <vt:lpstr>Dashboard</vt:lpstr>
      <vt:lpstr>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Shridhar Patil</cp:lastModifiedBy>
  <cp:revision>5</cp:revision>
  <dcterms:created xsi:type="dcterms:W3CDTF">2016-09-04T11:54:55Z</dcterms:created>
  <dcterms:modified xsi:type="dcterms:W3CDTF">2026-04-15T15:36:37Z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720000</vt:r8>
  </property>
  <property fmtid="{D5CDD505-2E9C-101B-9397-08002B2CF9AE}" pid="3" name="ContentTypeId">
    <vt:lpwstr>0x010100898BC9D56D519C46AAE6072BCCFC97D0</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